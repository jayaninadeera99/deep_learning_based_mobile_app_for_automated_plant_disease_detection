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60" r:id="rId6"/>
    <p:sldId id="277" r:id="rId7"/>
    <p:sldId id="261" r:id="rId8"/>
    <p:sldId id="270" r:id="rId9"/>
    <p:sldId id="271" r:id="rId10"/>
    <p:sldId id="276" r:id="rId11"/>
    <p:sldId id="279" r:id="rId12"/>
    <p:sldId id="264" r:id="rId13"/>
    <p:sldId id="265" r:id="rId14"/>
    <p:sldId id="280" r:id="rId15"/>
    <p:sldId id="266" r:id="rId16"/>
    <p:sldId id="267" r:id="rId17"/>
    <p:sldId id="272" r:id="rId18"/>
    <p:sldId id="269" r:id="rId19"/>
    <p:sldId id="268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C9B2D6-7077-4A8C-A118-F7D446F9D891}" v="342" dt="2026-07-31T18:53:12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AA98B-469A-45A2-B7D9-ACE9EA425C53}" type="datetimeFigureOut"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171C4-7089-4FB9-9DFC-317ADC7B9AE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23D4E-BED6-BE83-3256-CCF69A90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B0F40-F22B-636D-0DB0-84D5A053D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D620B-5F76-8336-7ED9-9DE354A3B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DCE2F-0B5E-DD58-9377-F685B0978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49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FE4EE-2AB0-1250-EB4E-07ED670F1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71E19-170C-8FE6-530C-934C59AF1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E9D02-A304-460E-AF4F-DCF173786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426CC-2DA1-FA23-AF66-1C357AD0B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51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402A4-78A4-E921-A71D-0760CFFC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7FCB5-9D35-E82E-071B-2BBF0BFC4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37BA5-2D54-B7C9-AE27-131A2F1AD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EE891-CD7F-EDF0-2948-4CFAFABAC2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87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solidFill>
            <a:srgbClr val="52796F">
              <a:alpha val="3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15600" y="5120640"/>
            <a:ext cx="2377440" cy="2377440"/>
          </a:xfrm>
          <a:prstGeom prst="ellipse">
            <a:avLst/>
          </a:prstGeom>
          <a:solidFill>
            <a:srgbClr val="E76F51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REPRODUCTION  •  MSc SEMINAR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Based Mobile Application for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Plant Disease Detection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+ classical image-processing pipeline for real-time leaf disease diagnosis and severity estimation on mobile devices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512064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51560" y="4709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Ramana Reddy, G. Kalnoor, M. Devashish, P. S. Karthik Reddy
</a:t>
            </a:r>
            <a:r>
              <a:rPr lang="en-US" sz="1250" b="1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Access, Vol. 13, 2025  (Q1 journal)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K. Jayani Nadeera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6172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in Electronics and Automation Engineering</a:t>
            </a:r>
            <a:endParaRPr lang="en-US" sz="1100" dirty="0"/>
          </a:p>
          <a:p>
            <a:pPr marL="0" indent="0" algn="r">
              <a:lnSpc>
                <a:spcPts val="1400"/>
              </a:lnSpc>
              <a:buNone/>
            </a:pPr>
            <a:r>
              <a:rPr lang="en-US" sz="11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Moratuwa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Paper Information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10" dirty="0"/>
          </a:p>
        </p:txBody>
      </p:sp>
      <p:sp>
        <p:nvSpPr>
          <p:cNvPr id="5" name="Text 3"/>
          <p:cNvSpPr/>
          <p:nvPr/>
        </p:nvSpPr>
        <p:spPr>
          <a:xfrm>
            <a:off x="150876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1709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Based Mobile Application for Automated Plant Disease Detection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10698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1520" y="2395728"/>
            <a:ext cx="502920" cy="502920"/>
          </a:xfrm>
          <a:prstGeom prst="ellipse">
            <a:avLst/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508760" y="2350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64261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Ramana Reddy, Gauri Kalnoor, Mudigonda Devashish, Palagiri Sai Karthik Reddy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172968"/>
            <a:ext cx="10698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3328416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3328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1508760" y="32826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357530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 — Multidisciplinary, Rapid Review, Open Access Journal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105656"/>
            <a:ext cx="10698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1520" y="4261104"/>
            <a:ext cx="502920" cy="502920"/>
          </a:xfrm>
          <a:prstGeom prst="ellipse">
            <a:avLst/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31520" y="4261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1508760" y="42153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450799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May 2025 · Published 18 June 2025 · Volume 13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5038344"/>
            <a:ext cx="10698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31520" y="519379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31520" y="5193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1508760" y="51480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/ INDEXING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5440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(SCIE-indexed, IEEE Access) — DOI: 10.1109/ACCESS.2025.3581099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Problem &amp; Key Contribution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0" cy="4846320"/>
          </a:xfrm>
          <a:prstGeom prst="rect">
            <a:avLst/>
          </a:prstGeom>
          <a:solidFill>
            <a:srgbClr val="D8E9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6012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4434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leaf inspection is slow, expert-dependent, and impractical at farm scale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CNN models classify disease type only — they don't quantify how severe the infection is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 stay in research settings, with no accessible field interface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need urgency and treatment-amount guidance, not just a disease label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5623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172200" y="1627632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17220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6858000" y="1536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Classification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0" y="1920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PyTorch CNN for binary Healthy/Diseased classification — 92.06% test accuracy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3108960"/>
            <a:ext cx="5623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172200" y="3364992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17220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6858000" y="3273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Quantification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0" y="3657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NumPy pipeline computes % of leaf area infected — a gap left by classification-only models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4846320"/>
            <a:ext cx="5623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172200" y="5102352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17220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6858000" y="5010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Deployment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858000" y="5394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+ Flask API delivers diagnosis, severity %, and Grad-CAM heatmap in ~2 seconds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9AAED-E856-E844-7BD0-3DBB74286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058387-0FFD-906B-25FB-85332A8F8347}"/>
              </a:ext>
            </a:extLst>
          </p:cNvPr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Paper — Results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8862A5-51AF-5F9B-0D22-533A25C07D77}"/>
              </a:ext>
            </a:extLst>
          </p:cNvPr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 held-out PlantVillage test set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94ACA7B-7246-D45E-18DE-9B800779ED80}"/>
              </a:ext>
            </a:extLst>
          </p:cNvPr>
          <p:cNvSpPr/>
          <p:nvPr/>
        </p:nvSpPr>
        <p:spPr>
          <a:xfrm>
            <a:off x="640080" y="1691640"/>
            <a:ext cx="2606040" cy="1737360"/>
          </a:xfrm>
          <a:prstGeom prst="rect">
            <a:avLst/>
          </a:prstGeom>
          <a:solidFill>
            <a:srgbClr val="D8E9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FE6751-4309-65C2-A5DC-1E4B282538B5}"/>
              </a:ext>
            </a:extLst>
          </p:cNvPr>
          <p:cNvSpPr/>
          <p:nvPr/>
        </p:nvSpPr>
        <p:spPr>
          <a:xfrm>
            <a:off x="640080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92.06%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A3B980-7382-940F-4E70-5A88F384E8E2}"/>
              </a:ext>
            </a:extLst>
          </p:cNvPr>
          <p:cNvSpPr/>
          <p:nvPr/>
        </p:nvSpPr>
        <p:spPr>
          <a:xfrm>
            <a:off x="64008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783EF25-4608-C9CB-D8F5-2974021210BA}"/>
              </a:ext>
            </a:extLst>
          </p:cNvPr>
          <p:cNvSpPr/>
          <p:nvPr/>
        </p:nvSpPr>
        <p:spPr>
          <a:xfrm>
            <a:off x="3429000" y="1691640"/>
            <a:ext cx="2606040" cy="1737360"/>
          </a:xfrm>
          <a:prstGeom prst="rect">
            <a:avLst/>
          </a:prstGeom>
          <a:solidFill>
            <a:srgbClr val="D8E9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1AF8CF-0E7C-3D79-44BC-C5B2E6EB52A0}"/>
              </a:ext>
            </a:extLst>
          </p:cNvPr>
          <p:cNvSpPr/>
          <p:nvPr/>
        </p:nvSpPr>
        <p:spPr>
          <a:xfrm>
            <a:off x="3429000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3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55E7C65-72B7-B8B6-41EB-2A057088C32D}"/>
              </a:ext>
            </a:extLst>
          </p:cNvPr>
          <p:cNvSpPr/>
          <p:nvPr/>
        </p:nvSpPr>
        <p:spPr>
          <a:xfrm>
            <a:off x="342900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(macro)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0B23DDE-72EC-54F8-B8F3-F897ED25482E}"/>
              </a:ext>
            </a:extLst>
          </p:cNvPr>
          <p:cNvSpPr/>
          <p:nvPr/>
        </p:nvSpPr>
        <p:spPr>
          <a:xfrm>
            <a:off x="6217920" y="1691640"/>
            <a:ext cx="2606040" cy="1737360"/>
          </a:xfrm>
          <a:prstGeom prst="rect">
            <a:avLst/>
          </a:prstGeom>
          <a:solidFill>
            <a:srgbClr val="D8E9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58FB5BA-7594-6D59-0CB9-BBB0DB68613A}"/>
              </a:ext>
            </a:extLst>
          </p:cNvPr>
          <p:cNvSpPr/>
          <p:nvPr/>
        </p:nvSpPr>
        <p:spPr>
          <a:xfrm>
            <a:off x="6217920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3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86863D-D980-6FB6-33F6-BE64ADD5C147}"/>
              </a:ext>
            </a:extLst>
          </p:cNvPr>
          <p:cNvSpPr/>
          <p:nvPr/>
        </p:nvSpPr>
        <p:spPr>
          <a:xfrm>
            <a:off x="621792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(macro)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C970355-CB52-A50F-BFB7-17CE7A75CE69}"/>
              </a:ext>
            </a:extLst>
          </p:cNvPr>
          <p:cNvSpPr/>
          <p:nvPr/>
        </p:nvSpPr>
        <p:spPr>
          <a:xfrm>
            <a:off x="9006840" y="1691640"/>
            <a:ext cx="2606040" cy="1737360"/>
          </a:xfrm>
          <a:prstGeom prst="rect">
            <a:avLst/>
          </a:prstGeom>
          <a:solidFill>
            <a:srgbClr val="D8E9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0D86C47-99A1-FB0B-E623-930F9FFAC68D}"/>
              </a:ext>
            </a:extLst>
          </p:cNvPr>
          <p:cNvSpPr/>
          <p:nvPr/>
        </p:nvSpPr>
        <p:spPr>
          <a:xfrm>
            <a:off x="9006840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3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E88E8B0-E7BD-7D7E-FF3F-ED24E2D7BB35}"/>
              </a:ext>
            </a:extLst>
          </p:cNvPr>
          <p:cNvSpPr/>
          <p:nvPr/>
        </p:nvSpPr>
        <p:spPr>
          <a:xfrm>
            <a:off x="900684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177B918-3460-E413-0780-6AD1A1FC11AF}"/>
              </a:ext>
            </a:extLst>
          </p:cNvPr>
          <p:cNvSpPr/>
          <p:nvPr/>
        </p:nvSpPr>
        <p:spPr>
          <a:xfrm>
            <a:off x="640080" y="3749040"/>
            <a:ext cx="5349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C1D401D-D06C-B268-19E6-D966F66C7751}"/>
              </a:ext>
            </a:extLst>
          </p:cNvPr>
          <p:cNvSpPr/>
          <p:nvPr/>
        </p:nvSpPr>
        <p:spPr>
          <a:xfrm>
            <a:off x="914400" y="3931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Performance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C07EB03-B6E3-F87E-1123-F1968282C271}"/>
              </a:ext>
            </a:extLst>
          </p:cNvPr>
          <p:cNvSpPr/>
          <p:nvPr/>
        </p:nvSpPr>
        <p:spPr>
          <a:xfrm>
            <a:off x="914400" y="4343400"/>
            <a:ext cx="484632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• Average end-to-end inference time: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~2 seconds
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• Most batch inferences: 1.0–1.3 sec on mobile hardware
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• Most disease classes score above 85% accuracy individually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59F5DC3-16BA-49AA-F884-AC3A164EA26F}"/>
              </a:ext>
            </a:extLst>
          </p:cNvPr>
          <p:cNvSpPr/>
          <p:nvPr/>
        </p:nvSpPr>
        <p:spPr>
          <a:xfrm>
            <a:off x="6217920" y="3749040"/>
            <a:ext cx="5349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3F2F768-D3C2-FD01-14B9-B735F48C35FC}"/>
              </a:ext>
            </a:extLst>
          </p:cNvPr>
          <p:cNvSpPr/>
          <p:nvPr/>
        </p:nvSpPr>
        <p:spPr>
          <a:xfrm>
            <a:off x="6492240" y="3931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Severity Assessments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4B5733E-2EC6-0FA9-FCB7-20ED12373186}"/>
              </a:ext>
            </a:extLst>
          </p:cNvPr>
          <p:cNvSpPr/>
          <p:nvPr/>
        </p:nvSpPr>
        <p:spPr>
          <a:xfrm>
            <a:off x="6492240" y="4343400"/>
            <a:ext cx="484632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• Grape leaf, small lesions: 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predicted severity ~15%
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• Heavily infected tomato leaf: 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lnSpc>
                <a:spcPct val="135000"/>
              </a:lnSpc>
            </a:pPr>
            <a:r>
              <a:rPr lang="en-US" sz="1400" b="1" dirty="0">
                <a:solidFill>
                  <a:srgbClr val="E76F51"/>
                </a:solidFill>
                <a:latin typeface="Calibri"/>
                <a:ea typeface="Calibri"/>
                <a:cs typeface="Calibri"/>
              </a:rPr>
              <a:t>predicted severity ~55%
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• Qualitatively aligned with human judgment in most test cases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A90D287-89A2-6E41-096C-864B6130913C}"/>
              </a:ext>
            </a:extLst>
          </p:cNvPr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8694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6"/>
          <p:cNvSpPr/>
          <p:nvPr/>
        </p:nvSpPr>
        <p:spPr>
          <a:xfrm>
            <a:off x="914400" y="3429000"/>
            <a:ext cx="512064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250" b="1" dirty="0">
              <a:solidFill>
                <a:srgbClr val="1B1B1B"/>
              </a:solidFill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75120" y="3017520"/>
            <a:ext cx="46634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 kern="0" spc="100" dirty="0">
              <a:solidFill>
                <a:srgbClr val="9BC1A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75120" y="3429000"/>
            <a:ext cx="466344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54,000+ images, 38 classes</a:t>
            </a:r>
            <a:r>
              <a:rPr lang="en-US" sz="12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
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75120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3000" b="1" dirty="0">
              <a:solidFill>
                <a:srgbClr val="E76F51"/>
              </a:solidFill>
              <a:ea typeface="Calibri"/>
              <a:cs typeface="Calibr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75120" y="5577840"/>
            <a:ext cx="21945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50" dirty="0">
              <a:solidFill>
                <a:srgbClr val="9BC1AC"/>
              </a:solidFill>
              <a:ea typeface="Calibri"/>
              <a:cs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5256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92.37%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052560" y="5577840"/>
            <a:ext cx="22860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50" dirty="0">
              <a:solidFill>
                <a:srgbClr val="9BC1AC"/>
              </a:solidFill>
              <a:ea typeface="Calibri"/>
              <a:cs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B1451BA-D6F6-183E-BA79-60A77A2918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" t="1547" r="1125" b="1895"/>
          <a:stretch>
            <a:fillRect/>
          </a:stretch>
        </p:blipFill>
        <p:spPr>
          <a:xfrm>
            <a:off x="730652" y="144683"/>
            <a:ext cx="10084553" cy="66219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C7AF56-8D6B-1250-E441-521F4D962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1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End-to-End System Pipeline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25880" y="149047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captures / uploads a leaf photo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8013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0" cy="384048"/>
          </a:xfrm>
          <a:prstGeom prst="line">
            <a:avLst/>
          </a:prstGeom>
          <a:noFill/>
          <a:ln w="19050">
            <a:solidFill>
              <a:srgbClr val="C9D8C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85800" y="2350008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23317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sent via POST request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64261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2807208"/>
            <a:ext cx="0" cy="384048"/>
          </a:xfrm>
          <a:prstGeom prst="line">
            <a:avLst/>
          </a:prstGeom>
          <a:noFill/>
          <a:ln w="19050">
            <a:solidFill>
              <a:srgbClr val="C9D8C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85800" y="3191256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317296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predicts Healthy vs Diseased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4838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model inference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3648456"/>
            <a:ext cx="0" cy="384048"/>
          </a:xfrm>
          <a:prstGeom prst="line">
            <a:avLst/>
          </a:prstGeom>
          <a:noFill/>
          <a:ln w="19050">
            <a:solidFill>
              <a:srgbClr val="C9D8C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85800" y="4032504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580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40142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diseased: severity computed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3251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image processing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4489704"/>
            <a:ext cx="0" cy="384048"/>
          </a:xfrm>
          <a:prstGeom prst="line">
            <a:avLst/>
          </a:prstGeom>
          <a:noFill/>
          <a:ln w="19050">
            <a:solidFill>
              <a:srgbClr val="C9D8C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85800" y="4873752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85800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485546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info + remedy fetched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51663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CSV lookup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4400" y="5330952"/>
            <a:ext cx="0" cy="384048"/>
          </a:xfrm>
          <a:prstGeom prst="line">
            <a:avLst/>
          </a:prstGeom>
          <a:noFill/>
          <a:ln w="19050">
            <a:solidFill>
              <a:srgbClr val="C9D8C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85800" y="5715000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25880" y="569671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rendered on mobile UI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600760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severity % + advice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0" y="1463040"/>
            <a:ext cx="4709160" cy="475488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713232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ESTIMATION ALGORITHM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132320" y="219456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RGB image to grayscale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Gaussian blur + fixed threshold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operations to clean noise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white pixels = infected regions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% = (Infected / Total pixels) × 100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32320" y="4709160"/>
            <a:ext cx="416052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360920" y="484632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D8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threshold: regions under 1% infection are ignored to suppress false positives from artifacts or lighting.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4A32"/>
                </a:solidFill>
                <a:latin typeface="Cambria"/>
              </a:rPr>
              <a:t>Our Implementation —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i="1">
                <a:solidFill>
                  <a:srgbClr val="6B7280"/>
                </a:solidFill>
                <a:latin typeface="Calibri"/>
              </a:rPr>
              <a:t>Repository layout: model training notebooks, Flask backend, and Flutter mobile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5074920"/>
          </a:xfrm>
          <a:prstGeom prst="roundRect">
            <a:avLst/>
          </a:prstGeom>
          <a:solidFill>
            <a:srgbClr val="F7F8F5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856" y="1325880"/>
            <a:ext cx="6569807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51920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4A32"/>
                </a:solidFill>
                <a:latin typeface="Cambria"/>
              </a:rPr>
              <a:t>Our Implementation — Runtime Data Flow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i="1">
                <a:solidFill>
                  <a:srgbClr val="6B7280"/>
                </a:solidFill>
                <a:latin typeface="Calibri"/>
              </a:rPr>
              <a:t>How a request moves from the mobile app through the Flask API to the TFLite models and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5074920"/>
          </a:xfrm>
          <a:prstGeom prst="roundRect">
            <a:avLst/>
          </a:prstGeom>
          <a:solidFill>
            <a:srgbClr val="F7F8F5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ttom.png"/>
          <p:cNvPicPr>
            <a:picLocks noChangeAspect="1"/>
          </p:cNvPicPr>
          <p:nvPr/>
        </p:nvPicPr>
        <p:blipFill>
          <a:blip r:embed="rId2"/>
          <a:srcRect t="7497" b="-780"/>
          <a:stretch>
            <a:fillRect/>
          </a:stretch>
        </p:blipFill>
        <p:spPr>
          <a:xfrm>
            <a:off x="2666359" y="1706224"/>
            <a:ext cx="6828801" cy="47340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51920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49A822-55F5-A469-10FB-5F2ED08A9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9304DF-656D-D25E-ACA5-DE5D933F22E1}"/>
              </a:ext>
            </a:extLst>
          </p:cNvPr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of Results — Our Approach</a:t>
            </a: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6ACEDA0-7724-41BD-3FDB-8F6D60A1F8C7}"/>
              </a:ext>
            </a:extLst>
          </p:cNvPr>
          <p:cNvSpPr/>
          <p:nvPr/>
        </p:nvSpPr>
        <p:spPr>
          <a:xfrm>
            <a:off x="640080" y="1280160"/>
            <a:ext cx="5212080" cy="4937760"/>
          </a:xfrm>
          <a:prstGeom prst="rect">
            <a:avLst/>
          </a:prstGeom>
          <a:solidFill>
            <a:srgbClr val="D8E9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95B158-171C-E495-37A2-2FC35A449FAA}"/>
              </a:ext>
            </a:extLst>
          </p:cNvPr>
          <p:cNvSpPr/>
          <p:nvPr/>
        </p:nvSpPr>
        <p:spPr>
          <a:xfrm>
            <a:off x="91440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REPRODUCTION SETUP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1E283A-5087-04E9-4F01-9D17E62EA268}"/>
              </a:ext>
            </a:extLst>
          </p:cNvPr>
          <p:cNvSpPr/>
          <p:nvPr/>
        </p:nvSpPr>
        <p:spPr>
          <a:xfrm>
            <a:off x="914400" y="192024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architecture: MobileNetV2 (transfer learning) in place of the paper's custom 4-conv CNN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to 6 crops: tea, onion, tomato, cabbage, rice, and one additional class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Class-imbalance handling: WeightedRandomSampler, class-weighted loss, oversampling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shape: Colab training → Flask API → mobile app (Flutter) deployment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match or exceed the paper's 92.06% baseline accuracy</a:t>
            </a:r>
            <a:endParaRPr lang="en-US" sz="12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E3F74B-56EA-2DCA-BA9E-3D819E21B264}"/>
              </a:ext>
            </a:extLst>
          </p:cNvPr>
          <p:cNvSpPr/>
          <p:nvPr/>
        </p:nvSpPr>
        <p:spPr>
          <a:xfrm>
            <a:off x="6080760" y="1280160"/>
            <a:ext cx="5486400" cy="493776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A44C88-1932-0EFA-61B0-7BB3B0C11AAC}"/>
              </a:ext>
            </a:extLst>
          </p:cNvPr>
          <p:cNvSpPr/>
          <p:nvPr/>
        </p:nvSpPr>
        <p:spPr>
          <a:xfrm>
            <a:off x="6355080" y="1463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vs. OUR REPRODUCTION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DB1DB58-F0C5-B52C-1660-F21D637266A1}"/>
              </a:ext>
            </a:extLst>
          </p:cNvPr>
          <p:cNvSpPr/>
          <p:nvPr/>
        </p:nvSpPr>
        <p:spPr>
          <a:xfrm>
            <a:off x="6355080" y="19202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D72A306-966A-D38C-F81D-271D3A764D0C}"/>
              </a:ext>
            </a:extLst>
          </p:cNvPr>
          <p:cNvSpPr/>
          <p:nvPr/>
        </p:nvSpPr>
        <p:spPr>
          <a:xfrm>
            <a:off x="8092440" y="19202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(4 conv + FC)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809323F-9AC8-C3A7-3CDD-201F83F6FE9B}"/>
              </a:ext>
            </a:extLst>
          </p:cNvPr>
          <p:cNvSpPr/>
          <p:nvPr/>
        </p:nvSpPr>
        <p:spPr>
          <a:xfrm>
            <a:off x="9921240" y="19202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(transfer)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4E9476B-927B-A2F4-D73E-04597399A4D8}"/>
              </a:ext>
            </a:extLst>
          </p:cNvPr>
          <p:cNvSpPr/>
          <p:nvPr/>
        </p:nvSpPr>
        <p:spPr>
          <a:xfrm>
            <a:off x="6355080" y="2606040"/>
            <a:ext cx="493776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D7343C2-C3CB-447E-086F-09D001BADD03}"/>
              </a:ext>
            </a:extLst>
          </p:cNvPr>
          <p:cNvSpPr/>
          <p:nvPr/>
        </p:nvSpPr>
        <p:spPr>
          <a:xfrm>
            <a:off x="6355080" y="26060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scope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069CD1F-4711-3214-CE39-F86F33B2E7EF}"/>
              </a:ext>
            </a:extLst>
          </p:cNvPr>
          <p:cNvSpPr/>
          <p:nvPr/>
        </p:nvSpPr>
        <p:spPr>
          <a:xfrm>
            <a:off x="8092440" y="26060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Healthy / Diseased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1E55053-9632-4046-4289-E39388D4F75D}"/>
              </a:ext>
            </a:extLst>
          </p:cNvPr>
          <p:cNvSpPr/>
          <p:nvPr/>
        </p:nvSpPr>
        <p:spPr>
          <a:xfrm>
            <a:off x="9921240" y="26060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Multi-crop disease ID</a:t>
            </a:r>
            <a:endParaRPr lang="en-US" sz="10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B35ECB4-99BE-4DDE-7DC4-2BBE1E10E5FC}"/>
              </a:ext>
            </a:extLst>
          </p:cNvPr>
          <p:cNvSpPr/>
          <p:nvPr/>
        </p:nvSpPr>
        <p:spPr>
          <a:xfrm>
            <a:off x="6355080" y="3291840"/>
            <a:ext cx="493776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BB4842E-8FC9-481A-D4DF-29A710587F19}"/>
              </a:ext>
            </a:extLst>
          </p:cNvPr>
          <p:cNvSpPr/>
          <p:nvPr/>
        </p:nvSpPr>
        <p:spPr>
          <a:xfrm>
            <a:off x="6355080" y="32918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covered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0C5A873-D5F9-B443-2588-E0E1441CFEF3}"/>
              </a:ext>
            </a:extLst>
          </p:cNvPr>
          <p:cNvSpPr/>
          <p:nvPr/>
        </p:nvSpPr>
        <p:spPr>
          <a:xfrm>
            <a:off x="8092440" y="3291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Tomato, grape, potato, apple, etc.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0C00BB4-098E-BD75-3D51-D68E4736FEDB}"/>
              </a:ext>
            </a:extLst>
          </p:cNvPr>
          <p:cNvSpPr/>
          <p:nvPr/>
        </p:nvSpPr>
        <p:spPr>
          <a:xfrm>
            <a:off x="9921240" y="3291840"/>
            <a:ext cx="1554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Tea, onion, tomato, </a:t>
            </a: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cabbage, rice 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4BFD6F9-C2BB-D5C4-94ED-996813793BA7}"/>
              </a:ext>
            </a:extLst>
          </p:cNvPr>
          <p:cNvSpPr/>
          <p:nvPr/>
        </p:nvSpPr>
        <p:spPr>
          <a:xfrm>
            <a:off x="6355080" y="3977640"/>
            <a:ext cx="493776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6D97009-C942-8C9C-72A1-2EADAD957B29}"/>
              </a:ext>
            </a:extLst>
          </p:cNvPr>
          <p:cNvSpPr/>
          <p:nvPr/>
        </p:nvSpPr>
        <p:spPr>
          <a:xfrm>
            <a:off x="6355080" y="39776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2220B0B-B1F0-865A-9A74-AEF583F11858}"/>
              </a:ext>
            </a:extLst>
          </p:cNvPr>
          <p:cNvSpPr/>
          <p:nvPr/>
        </p:nvSpPr>
        <p:spPr>
          <a:xfrm>
            <a:off x="8092440" y="39776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92.06%</a:t>
            </a:r>
            <a:endParaRPr lang="en-US" sz="10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ADF334B-EB0A-0777-B7C2-716740B61A56}"/>
              </a:ext>
            </a:extLst>
          </p:cNvPr>
          <p:cNvSpPr/>
          <p:nvPr/>
        </p:nvSpPr>
        <p:spPr>
          <a:xfrm>
            <a:off x="9921240" y="3977640"/>
            <a:ext cx="1554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200" b="1">
                <a:solidFill>
                  <a:srgbClr val="E76F51"/>
                </a:solidFill>
                <a:ea typeface="Calibri"/>
                <a:cs typeface="Calibri"/>
              </a:rPr>
              <a:t>85-99%</a:t>
            </a:r>
            <a:endParaRPr lang="en-US" sz="1200" b="1" dirty="0">
              <a:solidFill>
                <a:srgbClr val="E76F51"/>
              </a:solidFill>
              <a:ea typeface="Calibri"/>
              <a:cs typeface="Calibri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DDA21DC-1021-9BFA-F7EF-562E388E8BE2}"/>
              </a:ext>
            </a:extLst>
          </p:cNvPr>
          <p:cNvSpPr/>
          <p:nvPr/>
        </p:nvSpPr>
        <p:spPr>
          <a:xfrm>
            <a:off x="6355080" y="4663440"/>
            <a:ext cx="493776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9722434-B001-E786-87CE-9002389E455C}"/>
              </a:ext>
            </a:extLst>
          </p:cNvPr>
          <p:cNvSpPr/>
          <p:nvPr/>
        </p:nvSpPr>
        <p:spPr>
          <a:xfrm>
            <a:off x="6355080" y="4663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27C5660-5080-DCCA-890F-0CAF0CE44222}"/>
              </a:ext>
            </a:extLst>
          </p:cNvPr>
          <p:cNvSpPr/>
          <p:nvPr/>
        </p:nvSpPr>
        <p:spPr>
          <a:xfrm>
            <a:off x="8092440" y="46634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Flask</a:t>
            </a:r>
            <a:endParaRPr lang="en-US" sz="10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4BADA43-BCE3-34CB-F064-62DCDB320116}"/>
              </a:ext>
            </a:extLst>
          </p:cNvPr>
          <p:cNvSpPr/>
          <p:nvPr/>
        </p:nvSpPr>
        <p:spPr>
          <a:xfrm>
            <a:off x="9921240" y="46634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Flask</a:t>
            </a:r>
            <a:endParaRPr lang="en-US" sz="10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A0E91F0-FE67-BB9F-C3A3-EA958FE88631}"/>
              </a:ext>
            </a:extLst>
          </p:cNvPr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4613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7F357D-489D-46A7-63B8-BEA068CF6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193FDC-F229-2323-2B9E-6DFBC44D0841}"/>
              </a:ext>
            </a:extLst>
          </p:cNvPr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Reproduction — Training Curves by Crop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9F96C9-58CA-9475-4A7C-634892D41DF1}"/>
              </a:ext>
            </a:extLst>
          </p:cNvPr>
          <p:cNvSpPr/>
          <p:nvPr/>
        </p:nvSpPr>
        <p:spPr>
          <a:xfrm>
            <a:off x="64008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vs. validation accuracy/loss for each of the five trained crop models</a:t>
            </a:r>
            <a:endParaRPr lang="en-US" sz="12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6A6A3E6-72D7-DEB9-C5F8-B4B262DEDDEF}"/>
              </a:ext>
            </a:extLst>
          </p:cNvPr>
          <p:cNvSpPr/>
          <p:nvPr/>
        </p:nvSpPr>
        <p:spPr>
          <a:xfrm>
            <a:off x="640080" y="1417320"/>
            <a:ext cx="3566160" cy="2331720"/>
          </a:xfrm>
          <a:prstGeom prst="rect">
            <a:avLst/>
          </a:prstGeom>
          <a:solidFill>
            <a:srgbClr val="F7F8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imgs/tea_curves.png">
            <a:extLst>
              <a:ext uri="{FF2B5EF4-FFF2-40B4-BE49-F238E27FC236}">
                <a16:creationId xmlns:a16="http://schemas.microsoft.com/office/drawing/2014/main" id="{607C8BEC-B0C7-30BE-6B69-AAB0DEADB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3383280" cy="106930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4725576-B8DF-2287-3919-078C20293F0E}"/>
              </a:ext>
            </a:extLst>
          </p:cNvPr>
          <p:cNvSpPr/>
          <p:nvPr/>
        </p:nvSpPr>
        <p:spPr>
          <a:xfrm>
            <a:off x="640080" y="33649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(8 classes)</a:t>
            </a:r>
            <a:endParaRPr lang="en-US" sz="11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F7C7293-6515-500A-C566-652FC549E8EE}"/>
              </a:ext>
            </a:extLst>
          </p:cNvPr>
          <p:cNvSpPr/>
          <p:nvPr/>
        </p:nvSpPr>
        <p:spPr>
          <a:xfrm>
            <a:off x="4343400" y="1417320"/>
            <a:ext cx="3566160" cy="2331720"/>
          </a:xfrm>
          <a:prstGeom prst="rect">
            <a:avLst/>
          </a:prstGeom>
          <a:solidFill>
            <a:srgbClr val="F7F8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imgs/rice_curves.png">
            <a:extLst>
              <a:ext uri="{FF2B5EF4-FFF2-40B4-BE49-F238E27FC236}">
                <a16:creationId xmlns:a16="http://schemas.microsoft.com/office/drawing/2014/main" id="{843532B8-B617-0E16-A7A6-855E2676D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508760"/>
            <a:ext cx="3383280" cy="120659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234E1771-BADB-2B7D-44E0-1F147DF314C5}"/>
              </a:ext>
            </a:extLst>
          </p:cNvPr>
          <p:cNvSpPr/>
          <p:nvPr/>
        </p:nvSpPr>
        <p:spPr>
          <a:xfrm>
            <a:off x="4343400" y="33649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(8 classes)</a:t>
            </a:r>
            <a:endParaRPr lang="en-US" sz="11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4C3C832D-EB7C-5EF5-B4FA-4725E2995F7F}"/>
              </a:ext>
            </a:extLst>
          </p:cNvPr>
          <p:cNvSpPr/>
          <p:nvPr/>
        </p:nvSpPr>
        <p:spPr>
          <a:xfrm>
            <a:off x="8046720" y="1417320"/>
            <a:ext cx="3566160" cy="2331720"/>
          </a:xfrm>
          <a:prstGeom prst="rect">
            <a:avLst/>
          </a:prstGeom>
          <a:solidFill>
            <a:srgbClr val="F7F8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imgs/tomato_curves.png">
            <a:extLst>
              <a:ext uri="{FF2B5EF4-FFF2-40B4-BE49-F238E27FC236}">
                <a16:creationId xmlns:a16="http://schemas.microsoft.com/office/drawing/2014/main" id="{741E6218-1558-2254-65A3-9164575C8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628" y="1508760"/>
            <a:ext cx="2564343" cy="173736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40B0A377-E486-4E1E-78C0-043F91A75CC6}"/>
              </a:ext>
            </a:extLst>
          </p:cNvPr>
          <p:cNvSpPr/>
          <p:nvPr/>
        </p:nvSpPr>
        <p:spPr>
          <a:xfrm>
            <a:off x="8046720" y="33649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11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871CF97F-B49D-0F33-13B1-2FFB4940B7BB}"/>
              </a:ext>
            </a:extLst>
          </p:cNvPr>
          <p:cNvSpPr/>
          <p:nvPr/>
        </p:nvSpPr>
        <p:spPr>
          <a:xfrm>
            <a:off x="2491740" y="3977640"/>
            <a:ext cx="3566160" cy="2331720"/>
          </a:xfrm>
          <a:prstGeom prst="rect">
            <a:avLst/>
          </a:prstGeom>
          <a:solidFill>
            <a:srgbClr val="F7F8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3" descr="imgs/onion_curves.png">
            <a:extLst>
              <a:ext uri="{FF2B5EF4-FFF2-40B4-BE49-F238E27FC236}">
                <a16:creationId xmlns:a16="http://schemas.microsoft.com/office/drawing/2014/main" id="{5E517066-E846-CBFC-E544-BB252ED93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7979" y="4069080"/>
            <a:ext cx="1933682" cy="1737360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6C9D8709-EE2D-8576-EE3B-6E6176973E54}"/>
              </a:ext>
            </a:extLst>
          </p:cNvPr>
          <p:cNvSpPr/>
          <p:nvPr/>
        </p:nvSpPr>
        <p:spPr>
          <a:xfrm>
            <a:off x="2491740" y="5925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(15 classes) — base + fine-tune</a:t>
            </a:r>
            <a:endParaRPr lang="en-US" sz="11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778C32DC-C22A-A9EA-F105-76C8E43DFBD8}"/>
              </a:ext>
            </a:extLst>
          </p:cNvPr>
          <p:cNvSpPr/>
          <p:nvPr/>
        </p:nvSpPr>
        <p:spPr>
          <a:xfrm>
            <a:off x="6195060" y="3977640"/>
            <a:ext cx="3566160" cy="2331720"/>
          </a:xfrm>
          <a:prstGeom prst="rect">
            <a:avLst/>
          </a:prstGeom>
          <a:solidFill>
            <a:srgbClr val="F7F8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4" descr="imgs/cabbage_curves.png">
            <a:extLst>
              <a:ext uri="{FF2B5EF4-FFF2-40B4-BE49-F238E27FC236}">
                <a16:creationId xmlns:a16="http://schemas.microsoft.com/office/drawing/2014/main" id="{2722BE16-E490-D1B5-A5D1-E880A79AFD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7563" y="4069080"/>
            <a:ext cx="2281154" cy="1737360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C884D3C3-0C3D-940C-0A03-E6B46A5655C2}"/>
              </a:ext>
            </a:extLst>
          </p:cNvPr>
          <p:cNvSpPr/>
          <p:nvPr/>
        </p:nvSpPr>
        <p:spPr>
          <a:xfrm>
            <a:off x="6195060" y="5925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Cabbage (8 classes) — base + fine-tune</a:t>
            </a:r>
            <a:endParaRPr lang="en-US" sz="11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A495607-2FBE-1790-0BA9-5F44A7C64C02}"/>
              </a:ext>
            </a:extLst>
          </p:cNvPr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97487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8"/>
          <p:cNvSpPr/>
          <p:nvPr/>
        </p:nvSpPr>
        <p:spPr>
          <a:xfrm>
            <a:off x="794120" y="678855"/>
            <a:ext cx="5012995" cy="4762403"/>
          </a:xfrm>
          <a:prstGeom prst="rect">
            <a:avLst/>
          </a:prstGeom>
          <a:solidFill>
            <a:srgbClr val="F7F8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r>
              <a:rPr lang="en-US" sz="1100" b="1" i="0" u="none" strike="noStrike" baseline="0">
                <a:solidFill>
                  <a:srgbClr val="1B4332"/>
                </a:solidFill>
                <a:latin typeface="Calibri"/>
              </a:rPr>
              <a:t>Onion (15 classes)</a:t>
            </a:r>
            <a:endParaRPr/>
          </a:p>
        </p:txBody>
      </p:sp>
      <p:pic>
        <p:nvPicPr>
          <p:cNvPr id="14" name="Image 3" descr="imgs/onion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663" y="1069308"/>
            <a:ext cx="3939960" cy="35796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797B08-C47E-AFA1-0598-55D519ECC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406" y="1872446"/>
            <a:ext cx="6539698" cy="23703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Reproduction — Confusion Matrices by Crop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Per-class prediction accuracy on the held-out test set for four of the five crop models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71077" y="1540205"/>
            <a:ext cx="2651760" cy="4160520"/>
          </a:xfrm>
          <a:prstGeom prst="rect">
            <a:avLst/>
          </a:prstGeom>
          <a:solidFill>
            <a:srgbClr val="F7F8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imgs/tea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05" y="2684729"/>
            <a:ext cx="2432304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71077" y="5334965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033246" y="1540205"/>
            <a:ext cx="2651760" cy="4160520"/>
          </a:xfrm>
          <a:prstGeom prst="rect">
            <a:avLst/>
          </a:prstGeom>
          <a:solidFill>
            <a:srgbClr val="F7F8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imgs/rice_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974" y="2779979"/>
            <a:ext cx="2432304" cy="1333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3246" y="5334965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6">
            <a:extLst>
              <a:ext uri="{FF2B5EF4-FFF2-40B4-BE49-F238E27FC236}">
                <a16:creationId xmlns:a16="http://schemas.microsoft.com/office/drawing/2014/main" id="{23CF73FD-D3E0-7074-2A3A-4515A631C0BF}"/>
              </a:ext>
            </a:extLst>
          </p:cNvPr>
          <p:cNvSpPr/>
          <p:nvPr/>
        </p:nvSpPr>
        <p:spPr>
          <a:xfrm>
            <a:off x="2349618" y="1454180"/>
            <a:ext cx="2651760" cy="4160520"/>
          </a:xfrm>
          <a:prstGeom prst="rect">
            <a:avLst/>
          </a:prstGeom>
          <a:solidFill>
            <a:srgbClr val="F7F8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2" descr="imgs/onion_confusion.png">
            <a:extLst>
              <a:ext uri="{FF2B5EF4-FFF2-40B4-BE49-F238E27FC236}">
                <a16:creationId xmlns:a16="http://schemas.microsoft.com/office/drawing/2014/main" id="{AA851E2C-FA5B-C485-8599-C08882BC5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346" y="2186812"/>
            <a:ext cx="2432304" cy="2347784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FFB1C03B-097D-868D-6E61-94FD85495293}"/>
              </a:ext>
            </a:extLst>
          </p:cNvPr>
          <p:cNvSpPr/>
          <p:nvPr/>
        </p:nvSpPr>
        <p:spPr>
          <a:xfrm>
            <a:off x="2349618" y="52489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</a:t>
            </a:r>
            <a:endParaRPr lang="en-US" sz="125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71D1786-62D4-D9D8-1CD4-775C55CC0614}"/>
              </a:ext>
            </a:extLst>
          </p:cNvPr>
          <p:cNvSpPr/>
          <p:nvPr/>
        </p:nvSpPr>
        <p:spPr>
          <a:xfrm>
            <a:off x="6062011" y="1392156"/>
            <a:ext cx="2651760" cy="4160520"/>
          </a:xfrm>
          <a:prstGeom prst="rect">
            <a:avLst/>
          </a:prstGeom>
          <a:solidFill>
            <a:srgbClr val="F7F8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3" descr="imgs/cabbage_confusion.png">
            <a:extLst>
              <a:ext uri="{FF2B5EF4-FFF2-40B4-BE49-F238E27FC236}">
                <a16:creationId xmlns:a16="http://schemas.microsoft.com/office/drawing/2014/main" id="{0249557B-19A5-8034-EDB5-B0DBBAAE8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739" y="2341833"/>
            <a:ext cx="2432304" cy="1913693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28CD4092-C0AD-2293-3BA7-25142C21C6FD}"/>
              </a:ext>
            </a:extLst>
          </p:cNvPr>
          <p:cNvSpPr/>
          <p:nvPr/>
        </p:nvSpPr>
        <p:spPr>
          <a:xfrm>
            <a:off x="6062011" y="51869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Cabbage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754484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Results — Summary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figures read from each crop's training curves / confusion matrix above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50292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Model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9184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46320" y="1600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(approx.)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75120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28116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Paper Baseline (92.06%)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10972800" cy="621792"/>
          </a:xfrm>
          <a:prstGeom prst="rect">
            <a:avLst/>
          </a:prstGeom>
          <a:solidFill>
            <a:srgbClr val="F7F8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91840" y="21031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ts val="1300"/>
              </a:lnSpc>
            </a:pPr>
            <a:r>
              <a:rPr lang="en-US" sz="1150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8(14369 im</a:t>
            </a:r>
            <a:r>
              <a:rPr lang="en-US" sz="115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ages)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~92%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0" y="21031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curve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281160" y="2103120"/>
            <a:ext cx="228600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r>
              <a:rPr lang="en-US" sz="1200" b="1">
                <a:solidFill>
                  <a:srgbClr val="52796F"/>
                </a:solidFill>
                <a:ea typeface="Calibri"/>
                <a:cs typeface="Calibri"/>
              </a:rPr>
              <a:t>Close to baseline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lnSpc>
                <a:spcPts val="1300"/>
              </a:lnSpc>
              <a:buNone/>
            </a:pPr>
            <a:endParaRPr lang="en-US" sz="1150" b="1" dirty="0">
              <a:solidFill>
                <a:srgbClr val="E76F51"/>
              </a:solidFill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2724912"/>
            <a:ext cx="1097280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724912"/>
            <a:ext cx="260604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2724912"/>
            <a:ext cx="146304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ts val="1300"/>
              </a:lnSpc>
            </a:pPr>
            <a:r>
              <a:rPr lang="en-US" sz="115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8</a:t>
            </a:r>
            <a:r>
              <a:rPr lang="en-US" sz="12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(885 images)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300"/>
              </a:lnSpc>
              <a:buNone/>
            </a:pPr>
            <a:endParaRPr lang="en-US" sz="1150" dirty="0">
              <a:solidFill>
                <a:srgbClr val="1B1B1B"/>
              </a:solidFill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2724912"/>
            <a:ext cx="173736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~95%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75120" y="2724912"/>
            <a:ext cx="251460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(1357/2158)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81160" y="2724912"/>
            <a:ext cx="228600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r>
              <a:rPr lang="en-US" sz="1200" b="1">
                <a:solidFill>
                  <a:srgbClr val="2D6A4F"/>
                </a:solidFill>
                <a:ea typeface="Calibri"/>
                <a:cs typeface="Calibri"/>
              </a:rPr>
              <a:t>Exceeds baseline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lnSpc>
                <a:spcPts val="1300"/>
              </a:lnSpc>
              <a:buNone/>
            </a:pPr>
            <a:endParaRPr lang="en-US" sz="1150" b="1" dirty="0">
              <a:solidFill>
                <a:srgbClr val="E76F51"/>
              </a:solidFill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3346704"/>
            <a:ext cx="10972800" cy="621792"/>
          </a:xfrm>
          <a:prstGeom prst="rect">
            <a:avLst/>
          </a:prstGeom>
          <a:solidFill>
            <a:srgbClr val="F7F8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346704"/>
            <a:ext cx="260604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91840" y="3346704"/>
            <a:ext cx="146304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ts val="1300"/>
              </a:lnSpc>
            </a:pPr>
            <a:r>
              <a:rPr lang="en-US" sz="1150">
                <a:solidFill>
                  <a:srgbClr val="1B1B1B"/>
                </a:solidFill>
                <a:ea typeface="Calibri"/>
                <a:cs typeface="Calibri"/>
              </a:rPr>
              <a:t>8</a:t>
            </a:r>
            <a:r>
              <a:rPr lang="en-US" sz="1200">
                <a:solidFill>
                  <a:srgbClr val="1B1B1B"/>
                </a:solidFill>
                <a:ea typeface="Calibri"/>
                <a:cs typeface="Calibri"/>
              </a:rPr>
              <a:t>(10000 images)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lnSpc>
                <a:spcPts val="1300"/>
              </a:lnSpc>
              <a:buNone/>
            </a:pPr>
            <a:endParaRPr lang="en-US" sz="1150" dirty="0">
              <a:solidFill>
                <a:srgbClr val="1B1B1B"/>
              </a:solidFill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3346704"/>
            <a:ext cx="173736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~80–85%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3346704"/>
            <a:ext cx="251460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curve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81160" y="33467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baseline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968496"/>
            <a:ext cx="1097280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0080" y="39684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91840" y="3968496"/>
            <a:ext cx="146304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ts val="1300"/>
              </a:lnSpc>
            </a:pPr>
            <a:r>
              <a:rPr lang="en-US" sz="1150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15</a:t>
            </a:r>
            <a:r>
              <a:rPr lang="en-US" sz="12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(1600 images)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46320" y="3968496"/>
            <a:ext cx="173736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~90–92%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75120" y="39684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curve (fine-tuned)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281160" y="3968496"/>
            <a:ext cx="228600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baseline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590288"/>
            <a:ext cx="10972800" cy="621792"/>
          </a:xfrm>
          <a:prstGeom prst="rect">
            <a:avLst/>
          </a:prstGeom>
          <a:solidFill>
            <a:srgbClr val="F7F8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40080" y="4590288"/>
            <a:ext cx="260604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Cabbage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91840" y="4590288"/>
            <a:ext cx="146304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>
              <a:lnSpc>
                <a:spcPts val="1300"/>
              </a:lnSpc>
            </a:pPr>
            <a:r>
              <a:rPr lang="en-US" sz="115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8</a:t>
            </a:r>
            <a:r>
              <a:rPr lang="en-US" sz="12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(1606 images)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300"/>
              </a:lnSpc>
              <a:buNone/>
            </a:pPr>
            <a:endParaRPr lang="en-US" sz="1150" dirty="0">
              <a:solidFill>
                <a:srgbClr val="1B1B1B"/>
              </a:solidFill>
              <a:ea typeface="Calibri"/>
              <a:cs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46320" y="45902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~94.6%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675120" y="4590288"/>
            <a:ext cx="251460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(227/240)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281160" y="4590288"/>
            <a:ext cx="2286000" cy="6217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baseline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5440680"/>
            <a:ext cx="10972800" cy="1051560"/>
          </a:xfrm>
          <a:prstGeom prst="rect">
            <a:avLst/>
          </a:prstGeom>
          <a:solidFill>
            <a:srgbClr val="D8E9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914400" y="559612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Cabbage and onion transfer-learned well and match/exceed the paper's binary-classification baseline despite handling far more classes. Tea, rice, and tomato lag behind — likely due to class imbalance and dataset noise (see Challenges) — and are priority targets for further tuning before the final submission.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walkthrough of the mobile app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08760" y="19842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greets the user and lists supported plants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5420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plant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0876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crop type — e.g. Tomato, Onion, Tea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483864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34381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or upload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08760" y="37764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 or pick one from Gallery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379976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43342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diagnosis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08760" y="46725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“Diagnose” — image is sent to the Flask 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27608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2296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08760" y="5230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08760" y="55686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name, confidence, severity %, and remedy shown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1463040"/>
            <a:ext cx="3108960" cy="4846320"/>
          </a:xfrm>
          <a:prstGeom prst="roundRect">
            <a:avLst>
              <a:gd name="adj" fmla="val 7353"/>
            </a:avLst>
          </a:prstGeom>
          <a:solidFill>
            <a:srgbClr val="0F2A20"/>
          </a:solidFill>
          <a:ln w="25400">
            <a:solidFill>
              <a:srgbClr val="5279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046720" y="1783080"/>
            <a:ext cx="2743200" cy="4206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052560" y="2011680"/>
            <a:ext cx="731520" cy="731520"/>
          </a:xfrm>
          <a:prstGeom prst="ellipse">
            <a:avLst/>
          </a:prstGeom>
          <a:solidFill>
            <a:srgbClr val="D8E9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0525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1760" dirty="0"/>
          </a:p>
        </p:txBody>
      </p:sp>
      <p:sp>
        <p:nvSpPr>
          <p:cNvPr id="28" name="Text 26"/>
          <p:cNvSpPr/>
          <p:nvPr/>
        </p:nvSpPr>
        <p:spPr>
          <a:xfrm>
            <a:off x="813816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Plant Disease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3816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 or upload from gallery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75320" y="39319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27532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Diagnosis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38160" y="4754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 capture from your app 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9AF22FA-D99F-DCF6-D744-1ED4E3B2C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318" y="10886"/>
            <a:ext cx="334764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1871EE-E722-20EB-5724-01B8907A8CDE}"/>
              </a:ext>
            </a:extLst>
          </p:cNvPr>
          <p:cNvSpPr txBox="1"/>
          <p:nvPr/>
        </p:nvSpPr>
        <p:spPr>
          <a:xfrm>
            <a:off x="569089" y="535329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1B4332"/>
                </a:solidFill>
                <a:latin typeface="Cambria"/>
              </a:rPr>
              <a:t>Result &amp; </a:t>
            </a:r>
            <a:r>
              <a:rPr lang="en-US" sz="2800" b="1">
                <a:solidFill>
                  <a:srgbClr val="1B4332"/>
                </a:solidFill>
                <a:latin typeface="Cambria"/>
              </a:rPr>
              <a:t>Discussion</a:t>
            </a:r>
            <a:endParaRPr lang="en-US" dirty="0" err="1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AC8AFB-55AA-1A41-5862-CC9BE1659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97" y="1340734"/>
            <a:ext cx="2403058" cy="51410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B5E965-1DB9-00A5-9810-68F0D4181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004" y="1338942"/>
            <a:ext cx="2817480" cy="5138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8A4C8F-C195-A7B7-F910-7F4D51A1D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104" y="968828"/>
            <a:ext cx="2614479" cy="55081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910309-2705-F250-B09E-F5B28755E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399" y="1164771"/>
            <a:ext cx="2393401" cy="49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36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mbria"/>
              </a:rPr>
              <a:t>App Demo — Recorded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9BC1AC"/>
                </a:solidFill>
                <a:latin typeface="Calibri"/>
              </a:rPr>
              <a:t>Screen recording of the Flutter app on the Android emulator, with descriptive captions</a:t>
            </a:r>
          </a:p>
        </p:txBody>
      </p:sp>
      <p:pic>
        <p:nvPicPr>
          <p:cNvPr id="4" name="app_demo_captioned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89760" y="1417320"/>
            <a:ext cx="8412480" cy="47320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51920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846320"/>
          </a:xfrm>
          <a:prstGeom prst="rect">
            <a:avLst/>
          </a:prstGeom>
          <a:solidFill>
            <a:srgbClr val="D8E9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663440" cy="4023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 of leaf artifacts / dirt as diseased regions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and natural pigmentation misread as infection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across the six crop categories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Ensuring the severity module generalizes beyond curated </a:t>
            </a:r>
            <a:r>
              <a:rPr lang="en-US" sz="1300" dirty="0" err="1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PlantVillage</a:t>
            </a:r>
            <a:r>
              <a:rPr lang="en-US" sz="1300" dirty="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 images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80760" y="1371600"/>
            <a:ext cx="5486400" cy="484632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BC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9659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CNN + OpenCV severity pipeline, delivered through a mobile app, offers a practical “digital plant doctor” balancing accuracy, explainability, and field usability.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55080" y="3108960"/>
            <a:ext cx="493776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full multiclass disease classification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Deep segmentation for more robust severity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via TensorFlow Lite for offline use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remedy/treatment suggestions per detected disease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5440680"/>
            <a:ext cx="493776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55080" y="54406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157</cp:revision>
  <dcterms:created xsi:type="dcterms:W3CDTF">2026-07-30T06:16:44Z</dcterms:created>
  <dcterms:modified xsi:type="dcterms:W3CDTF">2026-07-31T18:55:09Z</dcterms:modified>
</cp:coreProperties>
</file>